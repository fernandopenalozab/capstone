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Heavy" charset="1" panose="00000A00000000000000"/>
      <p:regular r:id="rId12"/>
    </p:embeddedFont>
    <p:embeddedFont>
      <p:font typeface="Poppins" charset="1" panose="00000500000000000000"/>
      <p:regular r:id="rId13"/>
    </p:embeddedFont>
    <p:embeddedFont>
      <p:font typeface="Poppins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Relationship Id="rId4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00609" y="-1783310"/>
            <a:ext cx="6874251" cy="687425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16666" t="0" r="-1666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00609" y="5196059"/>
            <a:ext cx="6874251" cy="687425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3"/>
              <a:stretch>
                <a:fillRect l="-79503" t="0" r="-454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15859" y="1706374"/>
            <a:ext cx="6874251" cy="687425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61497" t="0" r="-9808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45747"/>
            <a:ext cx="4106828" cy="1321254"/>
          </a:xfrm>
          <a:custGeom>
            <a:avLst/>
            <a:gdLst/>
            <a:ahLst/>
            <a:cxnLst/>
            <a:rect r="r" b="b" t="t" l="l"/>
            <a:pathLst>
              <a:path h="1321254" w="4106828">
                <a:moveTo>
                  <a:pt x="0" y="0"/>
                </a:moveTo>
                <a:lnTo>
                  <a:pt x="4106828" y="0"/>
                </a:lnTo>
                <a:lnTo>
                  <a:pt x="4106828" y="1321255"/>
                </a:lnTo>
                <a:lnTo>
                  <a:pt x="0" y="1321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352643"/>
            <a:ext cx="7880283" cy="18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4"/>
              </a:lnSpc>
            </a:pPr>
            <a:r>
              <a:rPr lang="en-US" sz="6632" b="true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SOLUCIÓN TECNOLÓGICA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494797"/>
            <a:ext cx="7880283" cy="434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Taller mecánico Santa Marta PepsiCo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52094"/>
            <a:ext cx="788028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b="true" sz="3000">
                <a:solidFill>
                  <a:srgbClr val="C20909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- PEPSICO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322689"/>
            <a:ext cx="5090856" cy="76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Por Martín Arias y Fernando Peñaloza</a:t>
            </a:r>
          </a:p>
          <a:p>
            <a:pPr algn="l">
              <a:lnSpc>
                <a:spcPts val="1998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Jueves 20 de Noviembre</a:t>
            </a:r>
          </a:p>
          <a:p>
            <a:pPr algn="l">
              <a:lnSpc>
                <a:spcPts val="1998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58720" y="2061981"/>
            <a:ext cx="10738519" cy="4142370"/>
            <a:chOff x="0" y="0"/>
            <a:chExt cx="14318025" cy="552316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4318025" cy="925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5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C2090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Contexto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42423"/>
              <a:ext cx="14318025" cy="4380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PepsiC</a:t>
              </a:r>
              <a:r>
                <a:rPr lang="en-US" sz="20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 administra una flota de camiones que operan en todo el país y que requieren mantenimiento periódico</a:t>
              </a:r>
            </a:p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Actualmente, el proceso de ingreso de vehículos al taller se realiza de forma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manual:</a:t>
              </a:r>
            </a:p>
            <a:p>
              <a:pPr algn="l" marL="388622" indent="-194311" lvl="1">
                <a:lnSpc>
                  <a:spcPts val="248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Comunicación vía WhatsApp</a:t>
              </a:r>
            </a:p>
            <a:p>
              <a:pPr algn="l" marL="388622" indent="-194311" lvl="1">
                <a:lnSpc>
                  <a:spcPts val="248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Excel para registrar ingresos, asignaciones y repuestos</a:t>
              </a:r>
            </a:p>
            <a:p>
              <a:pPr algn="l" marL="388622" indent="-194311" lvl="1">
                <a:lnSpc>
                  <a:spcPts val="248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Fotografías enviadas por mensaje</a:t>
              </a:r>
            </a:p>
            <a:p>
              <a:pPr algn="l" marL="388622" indent="-194311" lvl="1">
                <a:lnSpc>
                  <a:spcPts val="248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Falta de un sistema centralizado para consultar historial y estado del vehículo</a:t>
              </a:r>
            </a:p>
            <a:p>
              <a:pPr algn="l" marL="0" indent="0" lvl="0">
                <a:lnSpc>
                  <a:spcPts val="24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28210" y="-2956665"/>
            <a:ext cx="8064744" cy="80647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24906" t="0" r="-2490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328210" y="5178921"/>
            <a:ext cx="8064744" cy="806474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3"/>
              <a:stretch>
                <a:fillRect l="-16666" t="0" r="-16666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258720" y="6297315"/>
            <a:ext cx="3158151" cy="387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4"/>
              </a:lnSpc>
              <a:spcBef>
                <a:spcPct val="0"/>
              </a:spcBef>
            </a:pPr>
            <a:r>
              <a:rPr lang="en-US" b="true" sz="2400">
                <a:solidFill>
                  <a:srgbClr val="C20909"/>
                </a:solidFill>
                <a:latin typeface="Poppins Heavy"/>
                <a:ea typeface="Poppins Heavy"/>
                <a:cs typeface="Poppins Heavy"/>
                <a:sym typeface="Poppins Heavy"/>
              </a:rPr>
              <a:t>Problemas críticos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58720" y="6703842"/>
            <a:ext cx="10738519" cy="157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48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Falta de </a:t>
            </a: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trazabilidad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los registros</a:t>
            </a:r>
          </a:p>
          <a:p>
            <a:pPr algn="l" marL="388622" indent="-194311" lvl="1">
              <a:lnSpc>
                <a:spcPts val="248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Desc</a:t>
            </a:r>
            <a:r>
              <a:rPr lang="en-US" b="true" sz="180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oordinación</a:t>
            </a: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entre roles</a:t>
            </a:r>
          </a:p>
          <a:p>
            <a:pPr algn="l" marL="388622" indent="-194311" lvl="1">
              <a:lnSpc>
                <a:spcPts val="248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Errores</a:t>
            </a: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 duplicación de datos</a:t>
            </a:r>
          </a:p>
          <a:p>
            <a:pPr algn="l" marL="388622" indent="-194311" lvl="1">
              <a:lnSpc>
                <a:spcPts val="2484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ocesos </a:t>
            </a:r>
            <a:r>
              <a:rPr lang="en-US" b="true" sz="180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lentos</a:t>
            </a: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que afectan la productividad</a:t>
            </a:r>
          </a:p>
          <a:p>
            <a:pPr algn="l" marL="388622" indent="-194311" lvl="1">
              <a:lnSpc>
                <a:spcPts val="2484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Falta de </a:t>
            </a:r>
            <a:r>
              <a:rPr lang="en-US" b="true" sz="180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</a:t>
            </a: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del estado real de un vehículo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950294" y="171777"/>
            <a:ext cx="2153553" cy="692844"/>
          </a:xfrm>
          <a:custGeom>
            <a:avLst/>
            <a:gdLst/>
            <a:ahLst/>
            <a:cxnLst/>
            <a:rect r="r" b="b" t="t" l="l"/>
            <a:pathLst>
              <a:path h="692844" w="2153553">
                <a:moveTo>
                  <a:pt x="0" y="0"/>
                </a:moveTo>
                <a:lnTo>
                  <a:pt x="2153554" y="0"/>
                </a:lnTo>
                <a:lnTo>
                  <a:pt x="2153554" y="692844"/>
                </a:lnTo>
                <a:lnTo>
                  <a:pt x="0" y="6928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543224"/>
            <a:ext cx="3718403" cy="3029401"/>
            <a:chOff x="0" y="0"/>
            <a:chExt cx="4957870" cy="403920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4957870" cy="436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000" b="true">
                  <a:solidFill>
                    <a:srgbClr val="C2090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Chofer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6485"/>
              <a:ext cx="4957870" cy="3442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Reg</a:t>
              </a: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istra el ingreso del vehículo y programa la hora.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</a:p>
            <a:p>
              <a:pPr algn="ctr">
                <a:lnSpc>
                  <a:spcPts val="2304"/>
                </a:lnSpc>
              </a:pPr>
              <a:r>
                <a:rPr lang="en-US" b="true" sz="1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Problema:</a:t>
              </a: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Depende de WhatsApp y no sabe el estado real del vehículo.</a:t>
              </a:r>
            </a:p>
            <a:p>
              <a:pPr algn="l">
                <a:lnSpc>
                  <a:spcPts val="23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73903" y="6543224"/>
            <a:ext cx="3718403" cy="3029401"/>
            <a:chOff x="0" y="0"/>
            <a:chExt cx="4957870" cy="403920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4957870" cy="436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000" b="true">
                  <a:solidFill>
                    <a:srgbClr val="C2090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Guardia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96485"/>
              <a:ext cx="4957870" cy="3442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ontrola entrada y salida de vehículos.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</a:p>
            <a:p>
              <a:pPr algn="ctr">
                <a:lnSpc>
                  <a:spcPts val="2304"/>
                </a:lnSpc>
              </a:pPr>
              <a:r>
                <a:rPr lang="en-US" b="true" sz="1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Problema: </a:t>
              </a: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Registra manualmente y por fotografía sin respaldo documental.</a:t>
              </a:r>
            </a:p>
            <a:p>
              <a:pPr algn="l">
                <a:lnSpc>
                  <a:spcPts val="23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144" y="6543224"/>
            <a:ext cx="3718403" cy="3029401"/>
            <a:chOff x="0" y="0"/>
            <a:chExt cx="4957870" cy="403920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4957870" cy="436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000" b="true">
                  <a:solidFill>
                    <a:srgbClr val="C2090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Mecánico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96485"/>
              <a:ext cx="4957870" cy="3442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Act</a:t>
              </a: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ualiza el avance de reparación, solicita repuestos, sube evidencias.</a:t>
              </a:r>
            </a:p>
            <a:p>
              <a:pPr algn="l">
                <a:lnSpc>
                  <a:spcPts val="2304"/>
                </a:lnSpc>
              </a:pPr>
            </a:p>
            <a:p>
              <a:pPr algn="l">
                <a:lnSpc>
                  <a:spcPts val="2304"/>
                </a:lnSpc>
              </a:pPr>
            </a:p>
            <a:p>
              <a:pPr algn="ctr">
                <a:lnSpc>
                  <a:spcPts val="2304"/>
                </a:lnSpc>
              </a:pPr>
              <a:r>
                <a:rPr lang="en-US" b="true" sz="1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Problema: </a:t>
              </a: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Depende de su jefatura de taller para reportar el avance.</a:t>
              </a:r>
            </a:p>
            <a:p>
              <a:pPr algn="l">
                <a:lnSpc>
                  <a:spcPts val="23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68386" y="6543224"/>
            <a:ext cx="3718403" cy="3029401"/>
            <a:chOff x="0" y="0"/>
            <a:chExt cx="4957870" cy="403920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4957870" cy="436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000" b="true">
                  <a:solidFill>
                    <a:srgbClr val="C2090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Administrador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96485"/>
              <a:ext cx="4957870" cy="3442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Resp</a:t>
              </a: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onsable del flujo. Requiere herramientas para asignar mecánicos, verificar y autorizar la salida.</a:t>
              </a:r>
            </a:p>
            <a:p>
              <a:pPr algn="l">
                <a:lnSpc>
                  <a:spcPts val="2304"/>
                </a:lnSpc>
              </a:pPr>
            </a:p>
            <a:p>
              <a:pPr algn="ctr">
                <a:lnSpc>
                  <a:spcPts val="2304"/>
                </a:lnSpc>
              </a:pPr>
              <a:r>
                <a:rPr lang="en-US" b="true" sz="1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Problema: </a:t>
              </a: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Necesita reportes semanales, trazabilidad y monitoreo de la flota.</a:t>
              </a:r>
            </a:p>
            <a:p>
              <a:pPr algn="l">
                <a:lnSpc>
                  <a:spcPts val="230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914400"/>
            <a:ext cx="8115300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9"/>
              </a:lnSpc>
              <a:spcBef>
                <a:spcPct val="0"/>
              </a:spcBef>
            </a:pPr>
            <a:r>
              <a:rPr lang="en-US" b="true" sz="3999">
                <a:solidFill>
                  <a:srgbClr val="C20909"/>
                </a:solidFill>
                <a:latin typeface="Poppins Bold"/>
                <a:ea typeface="Poppins Bold"/>
                <a:cs typeface="Poppins Bold"/>
                <a:sym typeface="Poppins Bold"/>
              </a:rPr>
              <a:t>Usuarios - Roles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1863045"/>
            <a:ext cx="2978752" cy="4305288"/>
            <a:chOff x="0" y="0"/>
            <a:chExt cx="3971670" cy="5740383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2"/>
            <a:srcRect l="25042" t="0" r="28860" b="0"/>
            <a:stretch>
              <a:fillRect/>
            </a:stretch>
          </p:blipFill>
          <p:spPr>
            <a:xfrm flipH="false" flipV="false">
              <a:off x="0" y="0"/>
              <a:ext cx="3971670" cy="5740383"/>
            </a:xfrm>
            <a:prstGeom prst="rect">
              <a:avLst/>
            </a:prstGeom>
          </p:spPr>
        </p:pic>
      </p:grpSp>
      <p:grpSp>
        <p:nvGrpSpPr>
          <p:cNvPr name="Group 17" id="17"/>
          <p:cNvGrpSpPr/>
          <p:nvPr/>
        </p:nvGrpSpPr>
        <p:grpSpPr>
          <a:xfrm rot="0">
            <a:off x="5168927" y="1863045"/>
            <a:ext cx="2978752" cy="4305288"/>
            <a:chOff x="0" y="0"/>
            <a:chExt cx="3971670" cy="5740383"/>
          </a:xfrm>
        </p:grpSpPr>
        <p:pic>
          <p:nvPicPr>
            <p:cNvPr name="Picture 18" id="18"/>
            <p:cNvPicPr>
              <a:picLocks noChangeAspect="true"/>
            </p:cNvPicPr>
            <p:nvPr/>
          </p:nvPicPr>
          <p:blipFill>
            <a:blip r:embed="rId3"/>
            <a:srcRect l="26951" t="0" r="26951" b="0"/>
            <a:stretch>
              <a:fillRect/>
            </a:stretch>
          </p:blipFill>
          <p:spPr>
            <a:xfrm flipH="false" flipV="false">
              <a:off x="0" y="0"/>
              <a:ext cx="3971670" cy="5740383"/>
            </a:xfrm>
            <a:prstGeom prst="rect">
              <a:avLst/>
            </a:prstGeom>
          </p:spPr>
        </p:pic>
      </p:grpSp>
      <p:grpSp>
        <p:nvGrpSpPr>
          <p:cNvPr name="Group 19" id="19"/>
          <p:cNvGrpSpPr/>
          <p:nvPr/>
        </p:nvGrpSpPr>
        <p:grpSpPr>
          <a:xfrm rot="0">
            <a:off x="9311239" y="1863045"/>
            <a:ext cx="2978752" cy="4305288"/>
            <a:chOff x="0" y="0"/>
            <a:chExt cx="3971670" cy="5740383"/>
          </a:xfrm>
        </p:grpSpPr>
        <p:pic>
          <p:nvPicPr>
            <p:cNvPr name="Picture 20" id="20"/>
            <p:cNvPicPr>
              <a:picLocks noChangeAspect="true"/>
            </p:cNvPicPr>
            <p:nvPr/>
          </p:nvPicPr>
          <p:blipFill>
            <a:blip r:embed="rId4"/>
            <a:srcRect l="26908" t="0" r="26908" b="0"/>
            <a:stretch>
              <a:fillRect/>
            </a:stretch>
          </p:blipFill>
          <p:spPr>
            <a:xfrm flipH="false" flipV="false">
              <a:off x="0" y="0"/>
              <a:ext cx="3971670" cy="5740383"/>
            </a:xfrm>
            <a:prstGeom prst="rect">
              <a:avLst/>
            </a:prstGeom>
          </p:spPr>
        </p:pic>
      </p:grpSp>
      <p:grpSp>
        <p:nvGrpSpPr>
          <p:cNvPr name="Group 21" id="21"/>
          <p:cNvGrpSpPr/>
          <p:nvPr/>
        </p:nvGrpSpPr>
        <p:grpSpPr>
          <a:xfrm rot="0">
            <a:off x="13453551" y="1863045"/>
            <a:ext cx="2978752" cy="4305288"/>
            <a:chOff x="0" y="0"/>
            <a:chExt cx="3971670" cy="5740383"/>
          </a:xfrm>
        </p:grpSpPr>
        <p:pic>
          <p:nvPicPr>
            <p:cNvPr name="Picture 22" id="22"/>
            <p:cNvPicPr>
              <a:picLocks noChangeAspect="true"/>
            </p:cNvPicPr>
            <p:nvPr/>
          </p:nvPicPr>
          <p:blipFill>
            <a:blip r:embed="rId5"/>
            <a:srcRect l="31232" t="0" r="31232" b="0"/>
            <a:stretch>
              <a:fillRect/>
            </a:stretch>
          </p:blipFill>
          <p:spPr>
            <a:xfrm flipH="false" flipV="false">
              <a:off x="0" y="0"/>
              <a:ext cx="3971670" cy="5740383"/>
            </a:xfrm>
            <a:prstGeom prst="rect">
              <a:avLst/>
            </a:prstGeom>
          </p:spPr>
        </p:pic>
      </p:grpSp>
      <p:sp>
        <p:nvSpPr>
          <p:cNvPr name="Freeform 23" id="23"/>
          <p:cNvSpPr/>
          <p:nvPr/>
        </p:nvSpPr>
        <p:spPr>
          <a:xfrm flipH="false" flipV="false" rot="0">
            <a:off x="15950294" y="171777"/>
            <a:ext cx="2153553" cy="692844"/>
          </a:xfrm>
          <a:custGeom>
            <a:avLst/>
            <a:gdLst/>
            <a:ahLst/>
            <a:cxnLst/>
            <a:rect r="r" b="b" t="t" l="l"/>
            <a:pathLst>
              <a:path h="692844" w="2153553">
                <a:moveTo>
                  <a:pt x="0" y="0"/>
                </a:moveTo>
                <a:lnTo>
                  <a:pt x="2153554" y="0"/>
                </a:lnTo>
                <a:lnTo>
                  <a:pt x="2153554" y="692844"/>
                </a:lnTo>
                <a:lnTo>
                  <a:pt x="0" y="6928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22285" y="782780"/>
            <a:ext cx="8064744" cy="80647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24999" t="0" r="-2500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6373512" y="7182037"/>
            <a:ext cx="633262" cy="977119"/>
            <a:chOff x="0" y="0"/>
            <a:chExt cx="406400" cy="6270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400" cy="627073"/>
            </a:xfrm>
            <a:custGeom>
              <a:avLst/>
              <a:gdLst/>
              <a:ahLst/>
              <a:cxnLst/>
              <a:rect r="r" b="b" t="t" l="l"/>
              <a:pathLst>
                <a:path h="627073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13536"/>
                  </a:lnTo>
                  <a:lnTo>
                    <a:pt x="203200" y="627073"/>
                  </a:lnTo>
                  <a:lnTo>
                    <a:pt x="0" y="627073"/>
                  </a:lnTo>
                  <a:lnTo>
                    <a:pt x="203200" y="313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5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7800" y="-28575"/>
              <a:ext cx="152400" cy="655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30188" y="2909567"/>
            <a:ext cx="3459026" cy="4527231"/>
            <a:chOff x="0" y="0"/>
            <a:chExt cx="4612034" cy="603630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4612034" cy="989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4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20909"/>
                  </a:solidFill>
                  <a:latin typeface="Poppins Heavy"/>
                  <a:ea typeface="Poppins Heavy"/>
                  <a:cs typeface="Poppins Heavy"/>
                  <a:sym typeface="Poppins Heavy"/>
                </a:rPr>
                <a:t>Gestión de Repuestos y Reparaciones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069973"/>
              <a:ext cx="4612034" cy="4966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2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Orden de Trab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ajo  automática</a:t>
              </a:r>
            </a:p>
            <a:p>
              <a:pPr algn="l" marL="388620" indent="-194310" lvl="1">
                <a:lnSpc>
                  <a:spcPts val="22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Mecánico actualiza avances (En diagnóstico, En reparación, Esperando repuesto, Finalizado)</a:t>
              </a:r>
            </a:p>
            <a:p>
              <a:pPr algn="l" marL="388620" indent="-194310" lvl="1">
                <a:lnSpc>
                  <a:spcPts val="22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Solicitudes de repuestos centralizadas con registro </a:t>
              </a:r>
            </a:p>
            <a:p>
              <a:pPr algn="l" marL="388620" indent="-194310" lvl="1">
                <a:lnSpc>
                  <a:spcPts val="22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Jefe de Taller controla con checklist digital</a:t>
              </a:r>
            </a:p>
            <a:p>
              <a:pPr algn="l" marL="388620" indent="-194310" lvl="1">
                <a:lnSpc>
                  <a:spcPts val="22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Trazabilidad completa del vehículo</a:t>
              </a:r>
            </a:p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10752488" y="7182037"/>
            <a:ext cx="633262" cy="977119"/>
            <a:chOff x="0" y="0"/>
            <a:chExt cx="406400" cy="6270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627073"/>
            </a:xfrm>
            <a:custGeom>
              <a:avLst/>
              <a:gdLst/>
              <a:ahLst/>
              <a:cxnLst/>
              <a:rect r="r" b="b" t="t" l="l"/>
              <a:pathLst>
                <a:path h="627073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13536"/>
                  </a:lnTo>
                  <a:lnTo>
                    <a:pt x="203200" y="627073"/>
                  </a:lnTo>
                  <a:lnTo>
                    <a:pt x="0" y="627073"/>
                  </a:lnTo>
                  <a:lnTo>
                    <a:pt x="203200" y="313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5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28575"/>
              <a:ext cx="152400" cy="655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400000">
            <a:off x="15092715" y="7182037"/>
            <a:ext cx="633262" cy="977119"/>
            <a:chOff x="0" y="0"/>
            <a:chExt cx="406400" cy="6270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627073"/>
            </a:xfrm>
            <a:custGeom>
              <a:avLst/>
              <a:gdLst/>
              <a:ahLst/>
              <a:cxnLst/>
              <a:rect r="r" b="b" t="t" l="l"/>
              <a:pathLst>
                <a:path h="627073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13536"/>
                  </a:lnTo>
                  <a:lnTo>
                    <a:pt x="203200" y="627073"/>
                  </a:lnTo>
                  <a:lnTo>
                    <a:pt x="0" y="627073"/>
                  </a:lnTo>
                  <a:lnTo>
                    <a:pt x="203200" y="313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5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28575"/>
              <a:ext cx="152400" cy="655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960630" y="1177290"/>
            <a:ext cx="10738519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9"/>
              </a:lnSpc>
              <a:spcBef>
                <a:spcPct val="0"/>
              </a:spcBef>
            </a:pPr>
            <a:r>
              <a:rPr lang="en-US" b="true" sz="3999">
                <a:solidFill>
                  <a:srgbClr val="C20909"/>
                </a:solidFill>
                <a:latin typeface="Poppins Bold"/>
                <a:ea typeface="Poppins Bold"/>
                <a:cs typeface="Poppins Bold"/>
                <a:sym typeface="Poppins Bold"/>
              </a:rPr>
              <a:t>Solución propuesta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60630" y="1976518"/>
            <a:ext cx="10738519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Pl</a:t>
            </a:r>
            <a:r>
              <a:rPr lang="en-US" sz="20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ataforma Web Integral de Gestión de Taller PepsiCo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679833" y="2909567"/>
            <a:ext cx="3459026" cy="3098481"/>
            <a:chOff x="0" y="0"/>
            <a:chExt cx="4612034" cy="4131308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28575"/>
              <a:ext cx="4612034" cy="989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4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20909"/>
                  </a:solidFill>
                  <a:latin typeface="Poppins Heavy"/>
                  <a:ea typeface="Poppins Heavy"/>
                  <a:cs typeface="Poppins Heavy"/>
                  <a:sym typeface="Poppins Heavy"/>
                </a:rPr>
                <a:t>Reportabilidad y Control Zonal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069973"/>
              <a:ext cx="4612034" cy="3061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2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Historial completo del vehículo con fotos y documentos</a:t>
              </a:r>
            </a:p>
            <a:p>
              <a:pPr algn="l" marL="388620" indent="-194310" lvl="1">
                <a:lnSpc>
                  <a:spcPts val="22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Reportes automáticos (supervisores y jefatura)</a:t>
              </a:r>
            </a:p>
            <a:p>
              <a:pPr algn="l" marL="388620" indent="-194310" lvl="1">
                <a:lnSpc>
                  <a:spcPts val="22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Dashboard con métricas clave:</a:t>
              </a:r>
            </a:p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960630" y="2909567"/>
            <a:ext cx="3459026" cy="4527231"/>
            <a:chOff x="0" y="0"/>
            <a:chExt cx="4612034" cy="603630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28575"/>
              <a:ext cx="4612034" cy="989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4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C20909"/>
                  </a:solidFill>
                  <a:latin typeface="Poppins Heavy"/>
                  <a:ea typeface="Poppins Heavy"/>
                  <a:cs typeface="Poppins Heavy"/>
                  <a:sym typeface="Poppins Heavy"/>
                </a:rPr>
                <a:t>Agendamiento y Registro de Ingreso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069973"/>
              <a:ext cx="4612034" cy="4966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2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Ag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enda interactiva que evita duplicidad de horarios</a:t>
              </a:r>
            </a:p>
            <a:p>
              <a:pPr algn="l" marL="388620" indent="-194310" lvl="1">
                <a:lnSpc>
                  <a:spcPts val="22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Registro con patente, fotos, estado inicial y documentación técnica</a:t>
              </a:r>
            </a:p>
            <a:p>
              <a:pPr algn="l" marL="388620" indent="-194310" lvl="1">
                <a:lnSpc>
                  <a:spcPts val="22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Vista del chofer con estado del vehículo en tiempo real</a:t>
              </a:r>
            </a:p>
            <a:p>
              <a:pPr algn="l" marL="388620" indent="-194310" lvl="1">
                <a:lnSpc>
                  <a:spcPts val="22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1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egistro del guardia con fotografía del camión al ingreso y salida</a:t>
              </a:r>
            </a:p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070772" y="5733011"/>
            <a:ext cx="3068087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250"/>
              </a:lnSpc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Tiempo promedio por reparación</a:t>
            </a:r>
          </a:p>
          <a:p>
            <a:pPr algn="l" marL="388620" indent="-194310" lvl="1">
              <a:lnSpc>
                <a:spcPts val="2250"/>
              </a:lnSpc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Vehículos en taller</a:t>
            </a:r>
          </a:p>
          <a:p>
            <a:pPr algn="l" marL="388620" indent="-194310" lvl="1">
              <a:lnSpc>
                <a:spcPts val="2250"/>
              </a:lnSpc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OTs pendientes</a:t>
            </a:r>
          </a:p>
          <a:p>
            <a:pPr algn="l" marL="388620" indent="-194310" lvl="1">
              <a:lnSpc>
                <a:spcPts val="2250"/>
              </a:lnSpc>
              <a:buAutoNum type="arabicPeriod" startAt="1"/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Repuestos más usados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60630" y="8181336"/>
            <a:ext cx="3459026" cy="173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25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40% menos tie</a:t>
            </a: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mpo en registros</a:t>
            </a:r>
          </a:p>
          <a:p>
            <a:pPr algn="l" marL="388620" indent="-194310" lvl="1">
              <a:lnSpc>
                <a:spcPts val="225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Eliminación del uso de WhatsApp</a:t>
            </a:r>
          </a:p>
          <a:p>
            <a:pPr algn="l" marL="388620" indent="-194310" lvl="1">
              <a:lnSpc>
                <a:spcPts val="225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Mayor control del flujo</a:t>
            </a:r>
          </a:p>
          <a:p>
            <a:pPr algn="l">
              <a:lnSpc>
                <a:spcPts val="225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339606" y="8181336"/>
            <a:ext cx="3459026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25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Visibil</a:t>
            </a: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idad completa del proceso</a:t>
            </a:r>
          </a:p>
          <a:p>
            <a:pPr algn="l" marL="388620" indent="-194310" lvl="1">
              <a:lnSpc>
                <a:spcPts val="225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Reducción de errores por falta de comunicación</a:t>
            </a:r>
          </a:p>
          <a:p>
            <a:pPr algn="l" marL="388620" indent="-194310" lvl="1">
              <a:lnSpc>
                <a:spcPts val="225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Control documentado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22557" y="8181336"/>
            <a:ext cx="3459026" cy="173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25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ineación al objetivo del caso práctico</a:t>
            </a:r>
          </a:p>
          <a:p>
            <a:pPr algn="l" marL="388620" indent="-194310" lvl="1">
              <a:lnSpc>
                <a:spcPts val="225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Facilita auditorías</a:t>
            </a:r>
          </a:p>
          <a:p>
            <a:pPr algn="l" marL="388620" indent="-194310" lvl="1">
              <a:lnSpc>
                <a:spcPts val="225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Mejora de indicadores de flota</a:t>
            </a:r>
          </a:p>
          <a:p>
            <a:pPr algn="l">
              <a:lnSpc>
                <a:spcPts val="22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55802"/>
            <a:ext cx="3475725" cy="1955071"/>
            <a:chOff x="0" y="0"/>
            <a:chExt cx="1128903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2"/>
              <a:stretch>
                <a:fillRect l="-6244" t="0" r="-624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4530826"/>
            <a:ext cx="3475725" cy="1955071"/>
            <a:chOff x="0" y="0"/>
            <a:chExt cx="1128903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-9339" r="0" b="-93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7009772"/>
            <a:ext cx="3475725" cy="1955071"/>
            <a:chOff x="0" y="0"/>
            <a:chExt cx="1128903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-4" r="0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73790" y="2055802"/>
            <a:ext cx="3468752" cy="1951149"/>
            <a:chOff x="0" y="0"/>
            <a:chExt cx="1128903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5"/>
              <a:stretch>
                <a:fillRect l="0" t="-4" r="0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73790" y="5510323"/>
            <a:ext cx="3468752" cy="1951149"/>
            <a:chOff x="0" y="0"/>
            <a:chExt cx="1128903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6"/>
              <a:stretch>
                <a:fillRect l="0" t="-38897" r="0" b="-3889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881483" y="2130691"/>
            <a:ext cx="3223076" cy="1169024"/>
            <a:chOff x="0" y="0"/>
            <a:chExt cx="4297435" cy="155869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495073"/>
              <a:ext cx="4297435" cy="1063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spc="6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500" spc="6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utilizó HTML5 para definir la estructura base de todas las interfaces de la plataforma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4297435" cy="360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C2090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HTML5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881483" y="4530826"/>
            <a:ext cx="3223260" cy="902324"/>
            <a:chOff x="0" y="0"/>
            <a:chExt cx="4297680" cy="120309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495073"/>
              <a:ext cx="4297680" cy="708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spc="6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El</a:t>
              </a:r>
              <a:r>
                <a:rPr lang="en-US" sz="1500" spc="6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diseño visual se implementó con CSS3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4297680" cy="360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C2090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CSS3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23543" y="2055802"/>
            <a:ext cx="3223260" cy="1702424"/>
            <a:chOff x="0" y="0"/>
            <a:chExt cx="4297680" cy="2269898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495073"/>
              <a:ext cx="4297680" cy="177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spc="6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</a:t>
              </a:r>
              <a:r>
                <a:rPr lang="en-US" sz="1500" spc="6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 simular una base de datos, esta tecnología permitió validar el comportamiento completo del sistema sin infraestructura adicional.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0"/>
              <a:ext cx="4297680" cy="360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C2090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LocalStorage / Django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881483" y="7009772"/>
            <a:ext cx="3223260" cy="1702424"/>
            <a:chOff x="0" y="0"/>
            <a:chExt cx="4297680" cy="226989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495073"/>
              <a:ext cx="4297680" cy="177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spc="6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JavaSc</a:t>
              </a:r>
              <a:r>
                <a:rPr lang="en-US" sz="1500" spc="61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ript permitió simular el funcionamiento real del sistema sin necesidad de un backend complejo, ideal para la etapa de prototipo.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0"/>
              <a:ext cx="4297680" cy="360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C2090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JavaScript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823543" y="4534749"/>
            <a:ext cx="3223260" cy="4636124"/>
            <a:chOff x="0" y="0"/>
            <a:chExt cx="4297680" cy="6181498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495073"/>
              <a:ext cx="4297680" cy="568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sz="1500" spc="6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Github </a:t>
              </a:r>
            </a:p>
            <a:p>
              <a:pPr algn="l">
                <a:lnSpc>
                  <a:spcPts val="2100"/>
                </a:lnSpc>
              </a:pPr>
              <a:r>
                <a:rPr lang="en-US" sz="1500" spc="6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Para el control de versiones.</a:t>
              </a:r>
            </a:p>
            <a:p>
              <a:pPr algn="l">
                <a:lnSpc>
                  <a:spcPts val="2100"/>
                </a:lnSpc>
              </a:pPr>
            </a:p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sz="1500" spc="6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Lucidchart</a:t>
              </a:r>
            </a:p>
            <a:p>
              <a:pPr algn="l">
                <a:lnSpc>
                  <a:spcPts val="2100"/>
                </a:lnSpc>
              </a:pPr>
              <a:r>
                <a:rPr lang="en-US" sz="1500" spc="6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Para Diagramas (AS-IS).</a:t>
              </a:r>
            </a:p>
            <a:p>
              <a:pPr algn="l">
                <a:lnSpc>
                  <a:spcPts val="2100"/>
                </a:lnSpc>
              </a:pPr>
            </a:p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sz="1500" spc="6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Google Docs / Word</a:t>
              </a:r>
            </a:p>
            <a:p>
              <a:pPr algn="l">
                <a:lnSpc>
                  <a:spcPts val="2100"/>
                </a:lnSpc>
              </a:pPr>
              <a:r>
                <a:rPr lang="en-US" sz="1500" spc="6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Para documentación formal como Actas , casos de pruebas , etc.</a:t>
              </a:r>
            </a:p>
            <a:p>
              <a:pPr algn="l">
                <a:lnSpc>
                  <a:spcPts val="2100"/>
                </a:lnSpc>
              </a:pPr>
            </a:p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sz="1500" spc="6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Canva / PowerPoint</a:t>
              </a:r>
            </a:p>
            <a:p>
              <a:pPr algn="l">
                <a:lnSpc>
                  <a:spcPts val="2100"/>
                </a:lnSpc>
              </a:pPr>
              <a:r>
                <a:rPr lang="en-US" sz="1500" spc="6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Para presentaciones , cronogramas y entregables visuales</a:t>
              </a:r>
            </a:p>
            <a:p>
              <a:pPr algn="l">
                <a:lnSpc>
                  <a:spcPts val="2100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0"/>
              <a:ext cx="4297680" cy="360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C2090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Herramientas de apoyo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700" y="914400"/>
            <a:ext cx="10406712" cy="72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9"/>
              </a:lnSpc>
              <a:spcBef>
                <a:spcPct val="0"/>
              </a:spcBef>
            </a:pPr>
            <a:r>
              <a:rPr lang="en-US" b="true" sz="3999">
                <a:solidFill>
                  <a:srgbClr val="C20909"/>
                </a:solidFill>
                <a:latin typeface="Poppins Bold"/>
                <a:ea typeface="Poppins Bold"/>
                <a:cs typeface="Poppins Bold"/>
                <a:sym typeface="Poppins Bold"/>
              </a:rPr>
              <a:t>Tecnologías</a:t>
            </a:r>
            <a:r>
              <a:rPr lang="en-US" b="true" sz="3999">
                <a:solidFill>
                  <a:srgbClr val="C2090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3999">
                <a:solidFill>
                  <a:srgbClr val="C20909"/>
                </a:solidFill>
                <a:latin typeface="Poppins Bold"/>
                <a:ea typeface="Poppins Bold"/>
                <a:cs typeface="Poppins Bold"/>
                <a:sym typeface="Poppins Bold"/>
              </a:rPr>
              <a:t>usadas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87572" y="-183182"/>
            <a:ext cx="11014091" cy="110140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0" t="-25000" r="0" b="-25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208508" y="-183182"/>
            <a:ext cx="11014091" cy="110140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3"/>
              <a:stretch>
                <a:fillRect l="0" t="-25000" r="0" b="-2500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925545" y="5472513"/>
            <a:ext cx="4442065" cy="4442065"/>
          </a:xfrm>
          <a:custGeom>
            <a:avLst/>
            <a:gdLst/>
            <a:ahLst/>
            <a:cxnLst/>
            <a:rect r="r" b="b" t="t" l="l"/>
            <a:pathLst>
              <a:path h="4442065" w="4442065">
                <a:moveTo>
                  <a:pt x="0" y="0"/>
                </a:moveTo>
                <a:lnTo>
                  <a:pt x="4442065" y="0"/>
                </a:lnTo>
                <a:lnTo>
                  <a:pt x="4442065" y="4442066"/>
                </a:lnTo>
                <a:lnTo>
                  <a:pt x="0" y="4442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443963" y="3255477"/>
            <a:ext cx="5400074" cy="2054100"/>
            <a:chOff x="0" y="0"/>
            <a:chExt cx="7200099" cy="273879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7200099" cy="1247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959"/>
                </a:lnSpc>
                <a:spcBef>
                  <a:spcPct val="0"/>
                </a:spcBef>
              </a:pPr>
              <a:r>
                <a:rPr lang="en-US" b="true" sz="6000" strike="noStrike" u="none">
                  <a:solidFill>
                    <a:srgbClr val="C20909"/>
                  </a:solidFill>
                  <a:latin typeface="Poppins Heavy"/>
                  <a:ea typeface="Poppins Heavy"/>
                  <a:cs typeface="Poppins Heavy"/>
                  <a:sym typeface="Poppins Heavy"/>
                </a:rPr>
                <a:t>¡GRACIAS!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411649"/>
              <a:ext cx="7200099" cy="1327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00"/>
                </a:lnSpc>
              </a:pPr>
              <a:r>
                <a:rPr lang="en-US" sz="3000" strike="noStrike" u="none">
                  <a:solidFill>
                    <a:srgbClr val="2B3244"/>
                  </a:solidFill>
                  <a:latin typeface="Poppins"/>
                  <a:ea typeface="Poppins"/>
                  <a:cs typeface="Poppins"/>
                  <a:sym typeface="Poppins"/>
                </a:rPr>
                <a:t>¿Tienes alguna pregunta?</a:t>
              </a:r>
            </a:p>
            <a:p>
              <a:pPr algn="ctr" marL="0" indent="0" lvl="0">
                <a:lnSpc>
                  <a:spcPts val="390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DAG5SPanRZA</dc:identifier>
  <dcterms:modified xsi:type="dcterms:W3CDTF">2011-08-01T06:04:30Z</dcterms:modified>
  <cp:revision>1</cp:revision>
  <dc:title>Copia de Presentación Industria Transporte y Logística Fotográfico Geométrico Rojo</dc:title>
</cp:coreProperties>
</file>